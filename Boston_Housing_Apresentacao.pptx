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A1A2E"/>
                </a:solidFill>
                <a:latin typeface="Calibri"/>
              </a:rPr>
              <a:t>Variáveis com Maior % de Outliers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outliers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</c:v>
                  </c:pt>
                  <c:pt idx="1">
                    <c:v>ZN</c:v>
                  </c:pt>
                  <c:pt idx="2">
                    <c:v>CRIM</c:v>
                  </c:pt>
                  <c:pt idx="3">
                    <c:v>MEDV</c:v>
                  </c:pt>
                  <c:pt idx="4">
                    <c:v>CHAS</c:v>
                  </c:pt>
                  <c:pt idx="5">
                    <c:v>RM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15.22</c:v>
                </c:pt>
                <c:pt idx="1">
                  <c:v>13.44</c:v>
                </c:pt>
                <c:pt idx="2">
                  <c:v>13.04</c:v>
                </c:pt>
                <c:pt idx="3">
                  <c:v>7.91</c:v>
                </c:pt>
                <c:pt idx="4">
                  <c:v>6.92</c:v>
                </c:pt>
                <c:pt idx="5">
                  <c:v>5.93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0E4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da amostra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Correlação (%)</c:v>
                </c:pt>
              </c:strCache>
            </c:strRef>
          </c:tx>
          <c:spPr>
            <a:solidFill>
              <a:srgbClr val="C62828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LSTAT</c:v>
                  </c:pt>
                  <c:pt idx="1">
                    <c:v>RM</c:v>
                  </c:pt>
                  <c:pt idx="2">
                    <c:v>PTRATIO</c:v>
                  </c:pt>
                  <c:pt idx="3">
                    <c:v>INDUS</c:v>
                  </c:pt>
                  <c:pt idx="4">
                    <c:v>TAX</c:v>
                  </c:pt>
                  <c:pt idx="5">
                    <c:v>NOX</c:v>
                  </c:pt>
                  <c:pt idx="6">
                    <c:v>CRIM</c:v>
                  </c:pt>
                  <c:pt idx="7">
                    <c:v>RAD</c:v>
                  </c:pt>
                  <c:pt idx="8">
                    <c:v>AGE</c:v>
                  </c:pt>
                  <c:pt idx="9">
                    <c:v>ZN</c:v>
                  </c:pt>
                  <c:pt idx="10">
                    <c:v>B</c:v>
                  </c:pt>
                  <c:pt idx="11">
                    <c:v>DIS</c:v>
                  </c:pt>
                  <c:pt idx="12">
                    <c:v>CHAS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-73.77</c:v>
                </c:pt>
                <c:pt idx="1">
                  <c:v>69.54</c:v>
                </c:pt>
                <c:pt idx="2">
                  <c:v>-50.78</c:v>
                </c:pt>
                <c:pt idx="3">
                  <c:v>-48.37</c:v>
                </c:pt>
                <c:pt idx="4">
                  <c:v>-46.85</c:v>
                </c:pt>
                <c:pt idx="5">
                  <c:v>-42.73</c:v>
                </c:pt>
                <c:pt idx="6">
                  <c:v>-38.83</c:v>
                </c:pt>
                <c:pt idx="7">
                  <c:v>-38.16</c:v>
                </c:pt>
                <c:pt idx="8">
                  <c:v>-37.7</c:v>
                </c:pt>
                <c:pt idx="9">
                  <c:v>36.04</c:v>
                </c:pt>
                <c:pt idx="10">
                  <c:v>33.35</c:v>
                </c:pt>
                <c:pt idx="11">
                  <c:v>24.99</c:v>
                </c:pt>
                <c:pt idx="12">
                  <c:v>17.53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-80"/>
        </c:scaling>
        <c:delete val="0"/>
        <c:axPos val="b"/>
        <c:majorGridlines>
          <c:spPr>
            <a:ln w="9525" cap="flat">
              <a:solidFill>
                <a:srgbClr val="E0E4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Correlação com MEDV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Calibri"/>
              </a:rPr>
              <a:t>R² por Modelo (quanto maior, melhor)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9CB0D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B0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Regressão
Linear</c:v>
                  </c:pt>
                  <c:pt idx="1">
                    <c:v>Random
Forest</c:v>
                  </c:pt>
                  <c:pt idx="2">
                    <c:v>Gradient
Boosting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0.6688</c:v>
                </c:pt>
                <c:pt idx="1">
                  <c:v>0.8923</c:v>
                </c:pt>
                <c:pt idx="2">
                  <c:v>0.9153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0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Importância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RM</c:v>
                  </c:pt>
                  <c:pt idx="1">
                    <c:v>LSTAT</c:v>
                  </c:pt>
                  <c:pt idx="2">
                    <c:v>DIS</c:v>
                  </c:pt>
                  <c:pt idx="3">
                    <c:v>NOX</c:v>
                  </c:pt>
                  <c:pt idx="4">
                    <c:v>PTRATIO</c:v>
                  </c:pt>
                  <c:pt idx="5">
                    <c:v>CRIM</c:v>
                  </c:pt>
                  <c:pt idx="6">
                    <c:v>AGE</c:v>
                  </c:pt>
                  <c:pt idx="7">
                    <c:v>TAX</c:v>
                  </c:pt>
                  <c:pt idx="8">
                    <c:v>B</c:v>
                  </c:pt>
                  <c:pt idx="9">
                    <c:v>INDUS</c:v>
                  </c:pt>
                  <c:pt idx="10">
                    <c:v>RAD</c:v>
                  </c:pt>
                  <c:pt idx="11">
                    <c:v>ZN</c:v>
                  </c:pt>
                  <c:pt idx="12">
                    <c:v>CHAS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41.74</c:v>
                </c:pt>
                <c:pt idx="1">
                  <c:v>37.43</c:v>
                </c:pt>
                <c:pt idx="2">
                  <c:v>7.47</c:v>
                </c:pt>
                <c:pt idx="3">
                  <c:v>3.29</c:v>
                </c:pt>
                <c:pt idx="4">
                  <c:v>3.01</c:v>
                </c:pt>
                <c:pt idx="5">
                  <c:v>2.59</c:v>
                </c:pt>
                <c:pt idx="6">
                  <c:v>1.54</c:v>
                </c:pt>
                <c:pt idx="7">
                  <c:v>1.14</c:v>
                </c:pt>
                <c:pt idx="8">
                  <c:v>1.06</c:v>
                </c:pt>
                <c:pt idx="9">
                  <c:v>0.42</c:v>
                </c:pt>
                <c:pt idx="10">
                  <c:v>0.21</c:v>
                </c:pt>
                <c:pt idx="11">
                  <c:v>0.07</c:v>
                </c:pt>
                <c:pt idx="12">
                  <c:v>0.02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0E4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Importância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4114800"/>
            <a:ext cx="2926080" cy="292608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ANALYTICS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Preditiva de Preços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Imóveis em Boston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 de dados, correlações e modelo de Machine Learning para prever o valor médio dos imóveis (MEDV)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506 imóveis  •  13 variáveis  •  Gradient Boosting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 e a Base de Dados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o valor médio dos imóveis (MEDV) a partir de características socioeconômicas e estruturais das regiões de Boston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Imóveis analisados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37560" y="2697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explicativas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26480" y="2697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nulos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22.5k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915400" y="2697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médio (USD, mil)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variáveis do dataset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06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60120" y="4160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—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médio de quartos por habitação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420624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4206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55080" y="4160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LSTAT —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da população de baixa renda na região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77316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773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0120" y="47274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PTRATIO —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aluno-professor da região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0" y="477316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4773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55080" y="47274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 —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criminalidade per capita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34009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3400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60120" y="529437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NOX —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de óxido nítrico (poluição)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43600" y="534009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53400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55080" y="529437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 —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médio do imóvel (variável-alvo)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Preditiva de Preços de Imóveis — Boston Housing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 dos Preços dos Imóveis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Variável-alvo MEDV — valor médio dos imóveis (em milhares de USD)</a:t>
            </a:r>
            <a:endParaRPr lang="en-US" sz="1400" dirty="0"/>
          </a:p>
        </p:txBody>
      </p:sp>
      <p:pic>
        <p:nvPicPr>
          <p:cNvPr id="4" name="Image 0" descr="charts/distribuicao_med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94944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737360"/>
            <a:ext cx="384048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81051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$22.5k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692640" y="181051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0" y="2907792"/>
            <a:ext cx="384048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2980944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$21.2k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692640" y="2980944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0" y="4078224"/>
            <a:ext cx="384048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12" name="Text 9"/>
          <p:cNvSpPr/>
          <p:nvPr/>
        </p:nvSpPr>
        <p:spPr>
          <a:xfrm>
            <a:off x="7955280" y="4151376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$5k – $50k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692640" y="4151376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(min–max)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0" y="5248656"/>
            <a:ext cx="384048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15" name="Text 12"/>
          <p:cNvSpPr/>
          <p:nvPr/>
        </p:nvSpPr>
        <p:spPr>
          <a:xfrm>
            <a:off x="7955280" y="532180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7,9%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692640" y="532180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outliers no preço (IQR)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Preditiva de Preços de Imóveis — Boston Housing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Tratamento de Outliers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via método IQR (intervalo interquartil) — 9 das 13 variáveis apresentaram valores atípicos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583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737360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1874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de modelagem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35240" y="21945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outliers em todas as colunas simultaneamente eliminaria 47% da base — por isso os modelos finais foram treinados com o dataset completo, preservando o volume de dados.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06640" y="3886200"/>
            <a:ext cx="42062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40233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635240" y="48920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base seria descartada se todos os outliers fossem removidos de uma vez (268 de 506 registros restariam)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Preditiva de Preços de Imóveis — Boston Housing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Mais Influencia o Preço?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de cada variável com o valor do imóvel (MEDV)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1124712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Preditiva de Preços de Imóveis — Boston Housing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Variáveis Mais Fortes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LSTAT, RM e PTRATIO são as únicas com correlação forte (|r| ≥ 0,5) com o preço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+69,5%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quartos → imóveis mais caros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LSTAT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−73,8%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80560" y="26517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população de baixa renda na região → imóveis mais baratos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PTRATIO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−50,8%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29600" y="26517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alunos por professor → imóveis mais baratos</a:t>
            </a:r>
            <a:endParaRPr lang="en-US" sz="1150" dirty="0"/>
          </a:p>
        </p:txBody>
      </p:sp>
      <p:pic>
        <p:nvPicPr>
          <p:cNvPr id="16" name="Image 0" descr="charts/rm_lstat_vs_med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520440"/>
            <a:ext cx="6858000" cy="2926080"/>
          </a:xfrm>
          <a:prstGeom prst="rect">
            <a:avLst/>
          </a:prstGeom>
        </p:spPr>
      </p:pic>
      <p:pic>
        <p:nvPicPr>
          <p:cNvPr id="17" name="Image 1" descr="charts/heatmap_for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383280"/>
            <a:ext cx="4023360" cy="3200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Preditiva de Preços de Imóveis — Boston Housing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de Modelos Preditivos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no conjunto de teste (20% dos dados)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7607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920240"/>
          <a:ext cx="5029200" cy="219456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583680" y="443484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7" name="Text 3"/>
          <p:cNvSpPr/>
          <p:nvPr/>
        </p:nvSpPr>
        <p:spPr>
          <a:xfrm>
            <a:off x="681228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foi o melhor modelo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812280" y="49377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91,5% da variação no preço dos imóveis e erra, em média, apenas US$ 1.912 (mil) por imóvel — o menor erro entre os três modelos testados.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Preditiva de Preços de Imóveis — Boston Housing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Final: Gradient Boosting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Previsões vs. valores reais no conjunto de teste</a:t>
            </a:r>
            <a:endParaRPr lang="en-US" sz="1400" dirty="0"/>
          </a:p>
        </p:txBody>
      </p:sp>
      <p:pic>
        <p:nvPicPr>
          <p:cNvPr id="4" name="Image 0" descr="charts/real_vs_previs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94944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73736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0,915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95528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variação explicada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315468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32461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$1,912k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955280" y="3886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médio absoluto (MAE)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0" y="457200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12" name="Text 9"/>
          <p:cNvSpPr/>
          <p:nvPr/>
        </p:nvSpPr>
        <p:spPr>
          <a:xfrm>
            <a:off x="7955280" y="4663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$2,492k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955280" y="5303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do erro quadrático (RMSE)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60807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por cross-validation (5 folds): R² médio de 0,895 — desempenho consistente, sem overfitting relevante.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Preditiva de Preços de Imóveis — Boston Housing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Mais Pesa na Previsão?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das variáveis no modelo Gradient Boosting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60020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7373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503920" y="26060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capacidade preditiva do modelo vem de apenas duas variáveis: RM (41,7%) e LSTAT (37,4%)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75320" y="397764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114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de negócio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03920" y="443484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tamanho do imóvel (nº de quartos) e o perfil socioeconômico da região dominam a formação de preço — muito mais do que criminalidade, poluição ou localização.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Preditiva de Preços de Imóveis — Boston Housing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Conclusões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26387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Tamanho e status social explicam o preço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(quartos) e LSTAT (baixa renda) concentram quase 80% da importância preditiva — mais do que qualquer outra variável.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263875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46520" y="2103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é o modelo recomendado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6060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de 0,915 no teste e 0,895 em cross-validation, com o menor erro médio (MAE de US$ 1.912) entre os modelos testados.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263875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" y="4389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Regressão Linear tem poder explicativo limitado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apenas 67% da variação no preço — as relações entre as variáveis e o valor do imóvel não são puramente lineares.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70332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263875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4389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Educação e composição social também importam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48920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PTRATIO (relação aluno-professor) é a terceira variável com correlação mais forte com o preço (−50,8%).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2026-08-21T20:42:04Z</dcterms:created>
  <dcterms:modified xsi:type="dcterms:W3CDTF">2026-08-21T20:42:04Z</dcterms:modified>
</cp:coreProperties>
</file>